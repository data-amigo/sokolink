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5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57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7F3D0"/>
                </a:solidFill>
                <a:latin typeface="Segoe UI"/>
              </a:rPr>
              <a:t>PROJECT FLOW ·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1460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0" b="1">
                <a:solidFill>
                  <a:srgbClr val="FFFFFF"/>
                </a:solidFill>
                <a:latin typeface="Segoe UI"/>
              </a:rPr>
              <a:t>SokoLink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03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D1FAE5"/>
                </a:solidFill>
                <a:latin typeface="Segoe UI"/>
              </a:rPr>
              <a:t>Where your audience becomes your customers.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434840"/>
            <a:ext cx="2011680" cy="4114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7091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A7F3D0"/>
                </a:solidFill>
                <a:latin typeface="Segoe UI"/>
              </a:rPr>
              <a:t>TikTok discovery  ·  WhatsApp conversation  ·  M-Pesa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852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E7B7"/>
                </a:solidFill>
                <a:latin typeface="Segoe UI"/>
              </a:rPr>
              <a:t>August 2026  ·  Fredrick Muchoya  ·  Kenya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45309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Three systems that don't talk to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286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520440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5309"/>
                </a:solidFill>
                <a:latin typeface="Segoe UI"/>
              </a:rPr>
              <a:t>TikTok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Where buyers discover products.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The catalogue already exists —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it just isn't shoppable.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2286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520440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8483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5309"/>
                </a:solidFill>
                <a:latin typeface="Segoe UI"/>
              </a:rPr>
              <a:t>WhatsApp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Where the conversation happens.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Buyers ask "Price?" and wait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hours for a reply.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3520440" cy="2286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001000" y="1828800"/>
            <a:ext cx="3520440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8483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5309"/>
                </a:solidFill>
                <a:latin typeface="Segoe UI"/>
              </a:rPr>
              <a:t>M-Pesa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Where the money moves.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Reconciled by scrolling SMS,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by hand, at midnight.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0835640" cy="132588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54864" cy="13258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45309"/>
                </a:solidFill>
                <a:latin typeface="Segoe UI"/>
              </a:rPr>
              <a:t>Every sale is manually stitched together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16181D"/>
                </a:solidFill>
                <a:latin typeface="Segoe UI"/>
              </a:rPr>
              <a:t>…by a seller who is also filming, sourcing, packing and delivering. 3–4 hours a day disappear into work that produces nothing new.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45309"/>
                </a:solidFill>
                <a:latin typeface="Segoe UI"/>
              </a:rPr>
              <a:t>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Prices are withheld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6672"/>
                </a:solidFill>
                <a:latin typeface="Segoe UI"/>
              </a:rPr>
              <a:t>Verified against 24 real captions from live Kenyan sellers: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45309"/>
                </a:solidFill>
                <a:latin typeface="Segoe UI"/>
              </a:rPr>
              <a:t>0 of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F6672"/>
                </a:solidFill>
                <a:latin typeface="Segoe UI"/>
              </a:rPr>
              <a:t>captions mention KSh, bob
or shilling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86000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43400" y="251460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45309"/>
                </a:solidFill>
                <a:latin typeface="Segoe UI"/>
              </a:rPr>
              <a:t>3 of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F6672"/>
                </a:solidFill>
                <a:latin typeface="Segoe UI"/>
              </a:rPr>
              <a:t>contain any price-like
number at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286000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01000" y="251460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45309"/>
                </a:solidFill>
                <a:latin typeface="Segoe UI"/>
              </a:rPr>
              <a:t>23 of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10896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F6672"/>
                </a:solidFill>
                <a:latin typeface="Segoe UI"/>
              </a:rPr>
              <a:t>are hashtags plus
"WhatsApp me"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0520"/>
            <a:ext cx="10835640" cy="868680"/>
          </a:xfrm>
          <a:prstGeom prst="roundRect">
            <a:avLst/>
          </a:prstGeom>
          <a:solidFill>
            <a:srgbClr val="F1F4F9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37083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6181D"/>
                </a:solidFill>
                <a:latin typeface="Consolas"/>
              </a:rPr>
              <a:t>All sizes available kindly WhatsApp#whatApp07XXXXXXXX  #foryoupage  #onlyforyou  #fyppppp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257800"/>
            <a:ext cx="10835640" cy="96012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5257800"/>
            <a:ext cx="54864" cy="9601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1324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47857"/>
                </a:solidFill>
                <a:latin typeface="Segoe UI"/>
              </a:rPr>
              <a:t>This is the insight the whole product rests on.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>
                <a:solidFill>
                  <a:srgbClr val="16181D"/>
                </a:solidFill>
                <a:latin typeface="Segoe UI"/>
              </a:rPr>
              <a:t>Sellers omit the price to force a DM. That tactic creates the bottleneck — and it means the price must be read from the video, never the caption.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7857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Three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520440" cy="32918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3520440" cy="5029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47857"/>
                </a:solidFill>
                <a:latin typeface="Segoe UI"/>
              </a:rPr>
              <a:t>Soko Commerce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Selling.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Catalog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Orders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Payments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WhatsApp Storefront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20440" cy="32918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52044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391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D28D9"/>
                </a:solidFill>
                <a:latin typeface="Segoe UI"/>
              </a:rPr>
              <a:t>Soko Intel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Getting seen.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Scripts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Captions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Market Insights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Competitor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783080"/>
            <a:ext cx="3520440" cy="32918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001000" y="1783080"/>
            <a:ext cx="3520440" cy="502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391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Segoe UI"/>
              </a:rPr>
              <a:t>Soko AI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The conversation.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Customer Support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Sales Agent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Follow-ups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150" b="0">
                <a:solidFill>
                  <a:srgbClr val="16181D"/>
                </a:solidFill>
                <a:latin typeface="Segoe UI"/>
              </a:rPr>
              <a:t>• Order Assistance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F6672"/>
                </a:solidFill>
                <a:latin typeface="Segoe UI"/>
              </a:rPr>
              <a:t>SokoLedger — on-device M-Pesa reconciliation — is deliberately parked as Phase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7857"/>
                </a:solidFill>
                <a:latin typeface="Segoe UI"/>
              </a:rPr>
              <a:t>FLOW 1 · SELLER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From a TikTok handle to a live shop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965960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435607" y="2084831"/>
            <a:ext cx="457200" cy="45720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7004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47857"/>
                </a:solidFill>
                <a:latin typeface="Segoe UI"/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01752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Seller sends their
TikTok handle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26060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FE3E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920240"/>
            <a:ext cx="1965960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648456" y="2084831"/>
            <a:ext cx="457200" cy="45720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67004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47857"/>
                </a:solidFill>
                <a:latin typeface="Segoe UI"/>
              </a:rPr>
              <a:t>Scrape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01752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Apify pulls videos,
covers,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060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FE3EA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920240"/>
            <a:ext cx="1965960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861304" y="2084831"/>
            <a:ext cx="457200" cy="45720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47857"/>
                </a:solidFill>
                <a:latin typeface="Segoe UI"/>
              </a:rPr>
              <a:t>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01752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AI reads product
+ price from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6060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FE3EA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4344" y="1920240"/>
            <a:ext cx="1965960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074152" y="2084831"/>
            <a:ext cx="457200" cy="45720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344" y="267004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47857"/>
                </a:solidFill>
                <a:latin typeface="Segoe UI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1" y="301752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Seller confirms
or corrects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6060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FE3EA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7192" y="1920240"/>
            <a:ext cx="1965960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0287000" y="2084831"/>
            <a:ext cx="457200" cy="45720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267004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47857"/>
                </a:solidFill>
                <a:latin typeface="Segoe UI"/>
              </a:rPr>
              <a:t>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301752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Shop goes live
— price required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160520"/>
            <a:ext cx="10835640" cy="16916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85800" y="4160520"/>
            <a:ext cx="54864" cy="16916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343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47857"/>
                </a:solidFill>
                <a:latin typeface="Segoe UI"/>
              </a:rPr>
              <a:t>The guardrail: the agent proposes, code disposes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16181D"/>
                </a:solidFill>
                <a:latin typeface="Segoe UI"/>
              </a:rPr>
              <a:t>The AI drafts words and reads a price it can see. It never decides price, stock or payment status.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16181D"/>
                </a:solidFill>
                <a:latin typeface="Segoe UI"/>
              </a:rPr>
              <a:t>A misread price sits in a draft the seller reviews — it never reaches a buyer unattended. Publishing is a deliberate human act that still requires a price.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7857"/>
                </a:solidFill>
                <a:latin typeface="Segoe UI"/>
              </a:rPr>
              <a:t>HOW IT READS A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A cost-ordered cascade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35640" cy="1051560"/>
          </a:xfrm>
          <a:prstGeom prst="round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54864" cy="105156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F6672"/>
                </a:solidFill>
                <a:latin typeface="Segoe UI"/>
              </a:rP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90195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Caption + hashtags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286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6672"/>
                </a:solidFill>
                <a:latin typeface="Segoe UI"/>
              </a:rPr>
              <a:t>near-free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929384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81D"/>
                </a:solidFill>
                <a:latin typeface="Segoe UI"/>
              </a:rPr>
              <a:t>Category hints, sometimes sizes.
Rarely a price.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90088"/>
            <a:ext cx="10835640" cy="105156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2990088"/>
            <a:ext cx="54864" cy="10515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47857"/>
                </a:solidFill>
                <a:latin typeface="Segoe UI"/>
              </a:rPr>
              <a:t>Tier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1089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Cover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930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47857"/>
                </a:solidFill>
                <a:latin typeface="Segoe UI"/>
              </a:rPr>
              <a:t>cheap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136392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81D"/>
                </a:solidFill>
                <a:latin typeface="Segoe UI"/>
              </a:rPr>
              <a:t>Gemini vision reads a price
printed on the thumbnail.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97096"/>
            <a:ext cx="10835640" cy="105156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4197096"/>
            <a:ext cx="54864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1596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09"/>
                </a:solidFill>
                <a:latin typeface="Segoe UI"/>
              </a:rPr>
              <a:t>Tier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31596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Video — visual +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700016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45309"/>
                </a:solidFill>
                <a:latin typeface="Segoe UI"/>
              </a:rPr>
              <a:t>expensive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343400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81D"/>
                </a:solidFill>
                <a:latin typeface="Segoe UI"/>
              </a:rPr>
              <a:t>Gemini watches and listens.
The seller says the price in Sheng.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86400"/>
            <a:ext cx="1083564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5840" y="562356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6181D"/>
                </a:solidFill>
                <a:latin typeface="Segoe UI"/>
              </a:rPr>
              <a:t>Escalates only when the tier above fails. Every video is processed once ever, keyed by video id, and cached.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>
                <a:solidFill>
                  <a:srgbClr val="047857"/>
                </a:solidFill>
                <a:latin typeface="Segoe UI"/>
              </a:rPr>
              <a:t>Proven live on real clips: KES 500 / 550 / 550 / 600 read correctly.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  <a:latin typeface="Segoe UI"/>
              </a:rPr>
              <a:t>FLOW 2 · BUYER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Buying without leaving WhatsApp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338328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WhatsApp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9748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6672"/>
                </a:solidFill>
                <a:latin typeface="Segoe UI"/>
              </a:rPr>
              <a:t>Buyer asks about
a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FE3EA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38328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8424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31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Browse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9748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6672"/>
                </a:solidFill>
                <a:latin typeface="Segoe UI"/>
              </a:rPr>
              <a:t>Agent answers,
sends a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FE3EA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83080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92440" y="1783080"/>
            <a:ext cx="338328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98424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31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In-app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69748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6672"/>
                </a:solidFill>
                <a:latin typeface="Segoe UI"/>
              </a:rPr>
              <a:t>WhatsApp opens the
storefront inline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49039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3749039"/>
            <a:ext cx="3383280" cy="45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950207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29767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SokoLink storefront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66344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6672"/>
                </a:solidFill>
                <a:latin typeface="Segoe UI"/>
              </a:rPr>
              <a:t>Mobile-first,
server-rendered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343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FE3EA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749039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389120" y="3749039"/>
            <a:ext cx="3383280" cy="45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950207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29767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M-Pesa 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466344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6672"/>
                </a:solidFill>
                <a:latin typeface="Segoe UI"/>
              </a:rPr>
              <a:t>STK push to the
same phone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343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FE3EA"/>
                </a:solidFill>
                <a:latin typeface="Segoe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749039"/>
            <a:ext cx="3383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92440" y="3749039"/>
            <a:ext cx="3383280" cy="45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3950207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47857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429767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Segoe UI"/>
              </a:rPr>
              <a:t>Return to WhatsApp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466344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6672"/>
                </a:solidFill>
                <a:latin typeface="Segoe UI"/>
              </a:rPr>
              <a:t>Order confirmed
in the thread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715000"/>
            <a:ext cx="10835640" cy="658368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85800" y="5715000"/>
            <a:ext cx="54864" cy="6583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7044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6181D"/>
                </a:solidFill>
                <a:latin typeface="Segoe UI"/>
              </a:rPr>
              <a:t>Not WhatsApp Flows — the ordinary in-app browser. No Flows approval dependency, and full control of the interface.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  <a:latin typeface="Segoe UI"/>
              </a:rPr>
              <a:t>THE HARD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Three problems to design deliberately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10835640" cy="12252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54864" cy="1225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1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6181D"/>
                </a:solidFill>
                <a:latin typeface="Segoe UI"/>
              </a:rPr>
              <a:t>Identity across the 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The storefront must know which buyer and which shop — with no login.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01952"/>
            <a:ext cx="5852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Signed, scoped, short-lived token in the link. Never a phone number in a URL: links leak via history, referrers and forwarding.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08960"/>
            <a:ext cx="10835640" cy="12252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3108960"/>
            <a:ext cx="54864" cy="1225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278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6181D"/>
                </a:solidFill>
                <a:latin typeface="Segoe UI"/>
              </a:rPr>
              <a:t>M-Pesa interrupts the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30168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The STK prompt takes over the same phone the webview is running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73552"/>
            <a:ext cx="5852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Checkout polls order status and renders paid / failed / timed-out honestly on return. The callback stays the only payment truth.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80560"/>
            <a:ext cx="10835640" cy="122529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4480560"/>
            <a:ext cx="54864" cy="1225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994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6181D"/>
                </a:solidFill>
                <a:latin typeface="Segoe UI"/>
              </a:rPr>
              <a:t>The return 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01768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A confirmed order should not strand the buyer on a success page.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645152"/>
            <a:ext cx="5852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Deep-link back into the conversation with the seller. Designed in, not bolted 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F6672"/>
                </a:solidFill>
                <a:latin typeface="Segoe UI"/>
              </a:rPr>
              <a:t>These work perfectly on a desktop test and fall apart on a real handset — which is why every milestone is tested on a real phone.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6D28D9"/>
                </a:solidFill>
                <a:latin typeface="Segoe UI"/>
              </a:rPr>
              <a:t>SOKO INTEL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The moat is the corpus, not the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965960" cy="16002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196596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031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D28D9"/>
                </a:solidFill>
                <a:latin typeface="Segoe UI"/>
              </a:rPr>
              <a:t>Niche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F6672"/>
                </a:solidFill>
                <a:latin typeface="Segoe UI"/>
              </a:rPr>
              <a:t>Seller types a
keyword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2423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C4B5FD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874519"/>
            <a:ext cx="1965960" cy="16002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898648" y="1874519"/>
            <a:ext cx="196596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21031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D28D9"/>
                </a:solidFill>
                <a:latin typeface="Segoe UI"/>
              </a:rPr>
              <a:t>Outlier posts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2542032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F6672"/>
                </a:solidFill>
                <a:latin typeface="Segoe UI"/>
              </a:rPr>
              <a:t>Which posts broke
out, and 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23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C4B5FD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874519"/>
            <a:ext cx="1965960" cy="16002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111496" y="1874519"/>
            <a:ext cx="196596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1224" y="21031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D28D9"/>
                </a:solidFill>
                <a:latin typeface="Segoe UI"/>
              </a:rPr>
              <a:t>Extract 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542032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F6672"/>
                </a:solidFill>
                <a:latin typeface="Segoe UI"/>
              </a:rPr>
              <a:t>Tagged by niche +
language register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423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C4B5FD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4344" y="1874519"/>
            <a:ext cx="1965960" cy="16002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324344" y="1874519"/>
            <a:ext cx="196596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4071" y="21031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D28D9"/>
                </a:solidFill>
                <a:latin typeface="Segoe UI"/>
              </a:rPr>
              <a:t>Hook corpus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1" y="2542032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F6672"/>
                </a:solidFill>
                <a:latin typeface="Segoe UI"/>
              </a:rPr>
              <a:t>Hooks that worked
here, in Sheng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423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C4B5FD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7192" y="1874519"/>
            <a:ext cx="1965960" cy="16002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537192" y="1874519"/>
            <a:ext cx="196596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19" y="21031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D28D9"/>
                </a:solidFill>
                <a:latin typeface="Segoe UI"/>
              </a:rP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2542032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F6672"/>
                </a:solidFill>
                <a:latin typeface="Segoe UI"/>
              </a:rPr>
              <a:t>Grounded in the corpus
+ the seller's stock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794760"/>
            <a:ext cx="5303520" cy="1965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5840" y="3977639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D28D9"/>
                </a:solidFill>
                <a:latin typeface="Segoe UI"/>
              </a:rPr>
              <a:t>Why it defends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>
                <a:solidFill>
                  <a:srgbClr val="16181D"/>
                </a:solidFill>
                <a:latin typeface="Segoe UI"/>
              </a:rPr>
              <a:t>Hooks are culture- and language-bound. A hook that converts in Los Angeles does not convert in Nairobi.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6181D"/>
                </a:solidFill>
                <a:latin typeface="Segoe UI"/>
              </a:rPr>
              <a:t>Existing tools are built for other markets. A competitor can copy the feature — but not the corpus.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94760"/>
            <a:ext cx="5303520" cy="196596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7920" y="3794760"/>
            <a:ext cx="54864" cy="1965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77639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5309"/>
                </a:solidFill>
                <a:latin typeface="Segoe UI"/>
              </a:rPr>
              <a:t>Grounding, not training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>
                <a:solidFill>
                  <a:srgbClr val="16181D"/>
                </a:solidFill>
                <a:latin typeface="Segoe UI"/>
              </a:rPr>
              <a:t>We are not fine-tuning a model. We retrieve real high-performing hooks into the prompt as examples.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6181D"/>
                </a:solidFill>
                <a:latin typeface="Segoe UI"/>
              </a:rPr>
              <a:t>A fraction of the cost — and it improves the moment a new hook lands, with no retraining cycle.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Chosen to be debuggable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1083564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69164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Python 3.11+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The maintainer's strongest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07568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7568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Async, typed, every endpoint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14016"/>
            <a:ext cx="1083564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459736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45973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Pydantic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45973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API schemas AND LLM output schemas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43784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84378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PostgreSQL + SQLAlchemy + Alembic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43784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Constraints as rails; migrations as version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182112"/>
            <a:ext cx="1083564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322783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Templating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22783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Jinja2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2783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Server-rendered storefront, minimal client 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118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611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Gemini (google-genai)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1188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Best on Sheng/Swahili — printed and spoken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950208"/>
            <a:ext cx="1083564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399592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Scraping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99592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Apify, behind our own adapter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99592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Engine swap is a one-file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379976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Messaging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37997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WhatsApp Cloud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37997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Where Kenyan commerce already lives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718304"/>
            <a:ext cx="1083564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" y="4764024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Payments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76402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M-Pesa Daraja (STK push)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764024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Universal, including the unbanked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4807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F6672"/>
                </a:solidFill>
                <a:latin typeface="Segoe UI"/>
              </a:rPr>
              <a:t>Hosting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51480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81D"/>
                </a:solidFill>
                <a:latin typeface="Segoe UI"/>
              </a:rPr>
              <a:t>Railway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14807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672"/>
                </a:solidFill>
                <a:latin typeface="Segoe UI"/>
              </a:rPr>
              <a:t>App and database on one 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623560"/>
            <a:ext cx="10835640" cy="5486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85800" y="5623560"/>
            <a:ext cx="54864" cy="548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751576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6181D"/>
                </a:solidFill>
                <a:latin typeface="Segoe UI"/>
              </a:rPr>
              <a:t>No AI framework. No vector database. Provider SDKs called directly — so nothing is magic, and nothing is un-debuggable.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7857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Four phases, nine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624328" cy="32004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2624328" cy="5486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22585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47857"/>
                </a:solidFill>
                <a:latin typeface="Segoe UI"/>
              </a:rPr>
              <a:t>Phase 1 · Soko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P0 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P1  Catalog + draft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65576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P2  WhatsApp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9624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P3  Storefront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33672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P4  Orders + 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783080"/>
            <a:ext cx="2624328" cy="3200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447288" y="1783080"/>
            <a:ext cx="2624328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1993392"/>
            <a:ext cx="22585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D4ED8"/>
                </a:solidFill>
                <a:latin typeface="Segoe UI"/>
              </a:rPr>
              <a:t>Phase 2 · Soko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697480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P5  Sales agent +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081528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P6  Follow-ups + order assistance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783080"/>
            <a:ext cx="2624328" cy="32004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08776" y="1783080"/>
            <a:ext cx="2624328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993392"/>
            <a:ext cx="22585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D28D9"/>
                </a:solidFill>
                <a:latin typeface="Segoe UI"/>
              </a:rPr>
              <a:t>Phase 3 · Soko Intel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697480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P7  Competitor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081528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P8  Scripts + captions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4" y="1783080"/>
            <a:ext cx="2624328" cy="320040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70264" y="1783080"/>
            <a:ext cx="2624328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993392"/>
            <a:ext cx="22585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09"/>
                </a:solidFill>
                <a:latin typeface="Segoe UI"/>
              </a:rPr>
              <a:t>Phase 4 ·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697480"/>
            <a:ext cx="2304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6181D"/>
                </a:solidFill>
                <a:latin typeface="Segoe UI"/>
              </a:rPr>
              <a:t>P9  Hardening + 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212080"/>
            <a:ext cx="10835640" cy="1005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5840" y="536752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81D"/>
                </a:solidFill>
                <a:latin typeface="Segoe UI"/>
              </a:rPr>
              <a:t>Commerce first — nothing matters until a seller can sell.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>
                <a:solidFill>
                  <a:srgbClr val="5F6672"/>
                </a:solidFill>
                <a:latin typeface="Segoe UI"/>
              </a:rPr>
              <a:t>Soko Intel is independent of WhatsApp, so it can be built in parallel while Meta business verification is pending.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47857"/>
                </a:solidFill>
                <a:latin typeface="Segoe UI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81D"/>
                </a:solidFill>
                <a:latin typeface="Segoe UI"/>
              </a:rPr>
              <a:t>Documented as we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303520" cy="19202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54864" cy="19202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47857"/>
                </a:solidFill>
                <a:latin typeface="Segoe UI"/>
              </a:rPr>
              <a:t>Every file explains itself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81D"/>
                </a:solidFill>
                <a:latin typeface="Segoe UI"/>
              </a:rPr>
              <a:t>A header docstring on every file: what it does, the pipeline it sits in, and why it is shaped that way. In six weeks nobody remembers why the cascade escalates in that order — the code has to say 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03520" cy="19202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4864" cy="1920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9842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Segoe UI"/>
              </a:rPr>
              <a:t>Tests ship with the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441448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81D"/>
                </a:solidFill>
                <a:latin typeface="Segoe UI"/>
              </a:rPr>
              <a:t>Never "tests later". Money paths get explicit replay tests proving idempotency. External services are always mocked — tests never hit a paid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31920"/>
            <a:ext cx="5303520" cy="192024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54864" cy="1920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3308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5309"/>
                </a:solidFill>
                <a:latin typeface="Segoe UI"/>
              </a:rPr>
              <a:t>Rails before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90288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81D"/>
                </a:solidFill>
                <a:latin typeface="Segoe UI"/>
              </a:rPr>
              <a:t>The payment path is built and proven with a plain button before the sales agent may call it. The agent requests a charge; deterministic code executes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03520" cy="1920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4864" cy="1920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13308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D28D9"/>
                </a:solidFill>
                <a:latin typeface="Segoe UI"/>
              </a:rPr>
              <a:t>Cost rails are not optional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590288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81D"/>
                </a:solidFill>
                <a:latin typeface="Segoe UI"/>
              </a:rPr>
              <a:t>Anything a user can trigger repeatedly gets a cache, a quota and — where appropriate — a paywall, designed in from the start rather than after a bill.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SokoLink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67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7F3D0"/>
                </a:solidFill>
                <a:latin typeface="Segoe UI"/>
              </a:rPr>
              <a:t>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Start 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063240"/>
            <a:ext cx="9784080" cy="713232"/>
          </a:xfrm>
          <a:prstGeom prst="roundRect">
            <a:avLst/>
          </a:prstGeom>
          <a:solidFill>
            <a:srgbClr val="036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63040" y="32644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6EE7B7"/>
                </a:solidFill>
                <a:latin typeface="Segoe U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26440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P0 Foundation — FastAPI spine, own database, CI green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931920"/>
            <a:ext cx="9784080" cy="713232"/>
          </a:xfrm>
          <a:prstGeom prst="roundRect">
            <a:avLst/>
          </a:prstGeom>
          <a:solidFill>
            <a:srgbClr val="036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63040" y="4133087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6EE7B7"/>
                </a:solidFill>
                <a:latin typeface="Segoe UI"/>
              </a:rPr>
              <a:t>Now, in 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133087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P7 Apify niche-search spike — the corpus starts here, and it does not wait on Meta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800600"/>
            <a:ext cx="9784080" cy="713232"/>
          </a:xfrm>
          <a:prstGeom prst="roundRect">
            <a:avLst/>
          </a:prstGeom>
          <a:solidFill>
            <a:srgbClr val="036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63040" y="5001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6EE7B7"/>
                </a:solidFill>
                <a:latin typeface="Segoe UI"/>
              </a:rPr>
              <a:t>On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0017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P2 WhatsApp channel — developer account approved, business verification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89788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7F3D0"/>
                </a:solidFill>
                <a:latin typeface="Segoe UI"/>
              </a:rPr>
              <a:t>Every implementation documented — so the codebase is understandable, debuggable, and safe to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